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FD497-8298-35A5-01F7-EF71475F7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Тренажёр по изучению языка программирования Python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E00067-1B43-B6F0-24DE-9C57245D4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Мобильное приложение для интерактивного обучения с администрированием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314087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BBFC1-C669-8B4B-DC75-C473E3B8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Идея и цель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486369-7AF0-EF00-2AAD-F84B2877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51" y="1630381"/>
            <a:ext cx="6065601" cy="2728431"/>
          </a:xfrm>
        </p:spPr>
        <p:txBody>
          <a:bodyPr>
            <a:normAutofit/>
          </a:bodyPr>
          <a:lstStyle/>
          <a:p>
            <a:r>
              <a:rPr lang="ru-RU" sz="1400" b="1" dirty="0"/>
              <a:t>Проблема:</a:t>
            </a:r>
            <a:endParaRPr lang="ru-RU" sz="1400" dirty="0"/>
          </a:p>
          <a:p>
            <a:pPr lvl="1"/>
            <a:r>
              <a:rPr lang="ru-RU" sz="1400" dirty="0"/>
              <a:t>Необходимость в структурированном и доступном инструменте для самостоятельного изучения Python с нуля.</a:t>
            </a:r>
          </a:p>
          <a:p>
            <a:pPr lvl="1"/>
            <a:r>
              <a:rPr lang="ru-RU" sz="1400" dirty="0"/>
              <a:t>Отсутствие в простых тренажёрах возможности гибкого управления контентом для преподавателей/администраторов.</a:t>
            </a:r>
          </a:p>
          <a:p>
            <a:endParaRPr lang="ru-RU" sz="14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7C85F71-6F74-502F-6EC7-72A1D1A33283}"/>
              </a:ext>
            </a:extLst>
          </p:cNvPr>
          <p:cNvSpPr txBox="1">
            <a:spLocks/>
          </p:cNvSpPr>
          <p:nvPr/>
        </p:nvSpPr>
        <p:spPr>
          <a:xfrm>
            <a:off x="5325979" y="1917368"/>
            <a:ext cx="6065601" cy="2728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400" b="1" dirty="0"/>
              <a:t>Решение:</a:t>
            </a:r>
            <a:endParaRPr lang="ru-RU" sz="1400" dirty="0"/>
          </a:p>
          <a:p>
            <a:pPr lvl="1" algn="r"/>
            <a:r>
              <a:rPr lang="ru-RU" sz="1400" dirty="0"/>
              <a:t>Интуитивное мобильное приложение с пошаговыми модулями (теория → пример → тест).</a:t>
            </a:r>
          </a:p>
          <a:p>
            <a:pPr lvl="1" algn="r"/>
            <a:r>
              <a:rPr lang="ru-RU" sz="1400" dirty="0"/>
              <a:t>Встроенная админ-панель для полного управления учебными материалами и пользователями.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1E49B-054B-50CC-D21B-E4C257C7A2C7}"/>
              </a:ext>
            </a:extLst>
          </p:cNvPr>
          <p:cNvSpPr txBox="1"/>
          <p:nvPr/>
        </p:nvSpPr>
        <p:spPr>
          <a:xfrm>
            <a:off x="1317138" y="4826675"/>
            <a:ext cx="100744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Цель:</a:t>
            </a:r>
            <a:endParaRPr lang="ru-RU" dirty="0"/>
          </a:p>
          <a:p>
            <a:pPr lvl="1"/>
            <a:r>
              <a:rPr lang="ru-RU" dirty="0"/>
              <a:t>Создать эффективный и безопасный инструмент для обучения Python с системой контроля прогресса и административным функционалом.</a:t>
            </a:r>
          </a:p>
          <a:p>
            <a:r>
              <a:rPr lang="ru-RU" b="1" dirty="0"/>
              <a:t>Целевая аудитория:</a:t>
            </a:r>
            <a:endParaRPr lang="ru-RU" dirty="0"/>
          </a:p>
          <a:p>
            <a:pPr lvl="1"/>
            <a:r>
              <a:rPr lang="ru-RU" b="1" dirty="0"/>
              <a:t>Ученики:</a:t>
            </a:r>
            <a:r>
              <a:rPr lang="ru-RU" dirty="0"/>
              <a:t> Начинающие программисты.</a:t>
            </a:r>
          </a:p>
          <a:p>
            <a:pPr lvl="1"/>
            <a:r>
              <a:rPr lang="ru-RU" b="1" dirty="0"/>
              <a:t>Администраторы/Преподаватели:</a:t>
            </a:r>
            <a:r>
              <a:rPr lang="ru-RU" dirty="0"/>
              <a:t> Управляющие учебным контентом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142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DD072-38A1-0917-E0FE-CCD67BAB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и ключевой функционал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CA4715-771C-A4C5-2226-CD59418DE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41" y="1885285"/>
            <a:ext cx="4220759" cy="3997828"/>
          </a:xfrm>
        </p:spPr>
        <p:txBody>
          <a:bodyPr/>
          <a:lstStyle/>
          <a:p>
            <a:r>
              <a:rPr lang="ru-RU" b="1" dirty="0"/>
              <a:t>Архитектура приложения:</a:t>
            </a:r>
            <a:endParaRPr lang="ru-RU" dirty="0"/>
          </a:p>
          <a:p>
            <a:pPr lvl="1"/>
            <a:r>
              <a:rPr lang="ru-RU" b="1" dirty="0"/>
              <a:t>Клиент:</a:t>
            </a:r>
            <a:r>
              <a:rPr lang="ru-RU" dirty="0"/>
              <a:t> </a:t>
            </a:r>
            <a:r>
              <a:rPr lang="en-US" dirty="0"/>
              <a:t>Android (Java), Android Studio.</a:t>
            </a:r>
          </a:p>
          <a:p>
            <a:pPr lvl="1"/>
            <a:r>
              <a:rPr lang="ru-RU" b="1" dirty="0"/>
              <a:t>Серверная часть:</a:t>
            </a:r>
            <a:r>
              <a:rPr lang="ru-RU" dirty="0"/>
              <a:t> </a:t>
            </a:r>
            <a:r>
              <a:rPr lang="en-US" dirty="0"/>
              <a:t>Google Firebase (Auth, Firestore, Storage).</a:t>
            </a:r>
          </a:p>
          <a:p>
            <a:pPr lvl="1"/>
            <a:r>
              <a:rPr lang="ru-RU" b="1" dirty="0"/>
              <a:t>Архитектурный паттерн:</a:t>
            </a:r>
            <a:r>
              <a:rPr lang="ru-RU" dirty="0"/>
              <a:t> </a:t>
            </a:r>
            <a:r>
              <a:rPr lang="en-US" dirty="0"/>
              <a:t>MVVM (Model-View-</a:t>
            </a:r>
            <a:r>
              <a:rPr lang="en-US" dirty="0" err="1"/>
              <a:t>ViewModel</a:t>
            </a:r>
            <a:r>
              <a:rPr lang="en-US" dirty="0"/>
              <a:t>) </a:t>
            </a:r>
            <a:r>
              <a:rPr lang="ru-RU" dirty="0"/>
              <a:t>для разделения логики и </a:t>
            </a:r>
            <a:r>
              <a:rPr lang="en-US" dirty="0"/>
              <a:t>UI.</a:t>
            </a:r>
          </a:p>
          <a:p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F1BEF9-9499-62E2-3E62-CDCCFF543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788" y="1810438"/>
            <a:ext cx="6240664" cy="414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9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6849B-1B69-201D-A766-01F0F5CF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703" y="269441"/>
            <a:ext cx="7958331" cy="1077229"/>
          </a:xfrm>
        </p:spPr>
        <p:txBody>
          <a:bodyPr/>
          <a:lstStyle/>
          <a:p>
            <a:r>
              <a:rPr lang="ru-RU" b="1" dirty="0"/>
              <a:t>Архитектура и технологии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182DFC-4A66-FACA-B55B-3A6194F8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431" y="961252"/>
            <a:ext cx="3964085" cy="1077229"/>
          </a:xfrm>
        </p:spPr>
        <p:txBody>
          <a:bodyPr/>
          <a:lstStyle/>
          <a:p>
            <a:r>
              <a:rPr lang="ru-RU" b="1" dirty="0"/>
              <a:t>Схема взаимодействия: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4A5347-29E2-4385-6C3F-D3FE6E8B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05" y="1916378"/>
            <a:ext cx="3543795" cy="2191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7FB61-41B6-4FFB-8629-295F9556BB76}"/>
              </a:ext>
            </a:extLst>
          </p:cNvPr>
          <p:cNvSpPr txBox="1"/>
          <p:nvPr/>
        </p:nvSpPr>
        <p:spPr>
          <a:xfrm>
            <a:off x="7121771" y="1305341"/>
            <a:ext cx="360947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Технологический стек:</a:t>
            </a:r>
            <a:endParaRPr lang="ru-RU" dirty="0"/>
          </a:p>
          <a:p>
            <a:r>
              <a:rPr lang="en-US" b="1" dirty="0"/>
              <a:t>Frontend:</a:t>
            </a:r>
            <a:r>
              <a:rPr lang="en-US" dirty="0"/>
              <a:t> Java, Android SDK, </a:t>
            </a:r>
            <a:r>
              <a:rPr lang="en-US" dirty="0" err="1"/>
              <a:t>ViewBinding</a:t>
            </a:r>
            <a:r>
              <a:rPr lang="en-US" dirty="0"/>
              <a:t>/</a:t>
            </a:r>
            <a:r>
              <a:rPr lang="en-US" dirty="0" err="1"/>
              <a:t>DataBinding</a:t>
            </a:r>
            <a:r>
              <a:rPr lang="en-US" dirty="0"/>
              <a:t>.</a:t>
            </a:r>
          </a:p>
          <a:p>
            <a:r>
              <a:rPr lang="en-US" b="1" dirty="0"/>
              <a:t>Backend:</a:t>
            </a:r>
            <a:r>
              <a:rPr lang="en-US" dirty="0"/>
              <a:t> Firebase (</a:t>
            </a:r>
            <a:r>
              <a:rPr lang="ru-RU" dirty="0"/>
              <a:t>аутентификация, облачная БД, хранение файлов).</a:t>
            </a:r>
          </a:p>
          <a:p>
            <a:r>
              <a:rPr lang="ru-RU" b="1" dirty="0"/>
              <a:t>Архитектура:</a:t>
            </a:r>
            <a:r>
              <a:rPr lang="ru-RU" dirty="0"/>
              <a:t> </a:t>
            </a:r>
            <a:r>
              <a:rPr lang="en-US" dirty="0"/>
              <a:t>MVVM, Repository Pattern, </a:t>
            </a:r>
            <a:r>
              <a:rPr lang="en-US" dirty="0" err="1"/>
              <a:t>LiveData</a:t>
            </a:r>
            <a:r>
              <a:rPr lang="en-US" dirty="0"/>
              <a:t>/</a:t>
            </a:r>
            <a:r>
              <a:rPr lang="en-US" dirty="0" err="1"/>
              <a:t>ViewModel</a:t>
            </a:r>
            <a:r>
              <a:rPr lang="en-US" dirty="0"/>
              <a:t>.</a:t>
            </a:r>
          </a:p>
          <a:p>
            <a:r>
              <a:rPr lang="ru-RU" b="1" dirty="0"/>
              <a:t>Безопасность:</a:t>
            </a:r>
            <a:r>
              <a:rPr lang="ru-RU" dirty="0"/>
              <a:t> Правила безопасности </a:t>
            </a:r>
            <a:r>
              <a:rPr lang="en-US" dirty="0"/>
              <a:t>Firestore, </a:t>
            </a:r>
            <a:r>
              <a:rPr lang="ru-RU" dirty="0"/>
              <a:t>хэширование паролей через </a:t>
            </a:r>
            <a:r>
              <a:rPr lang="en-US" dirty="0"/>
              <a:t>Firebase Auth.</a:t>
            </a:r>
          </a:p>
          <a:p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87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C5891-697F-364F-EB05-39ACA85FB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269441"/>
            <a:ext cx="7958331" cy="1077229"/>
          </a:xfrm>
        </p:spPr>
        <p:txBody>
          <a:bodyPr/>
          <a:lstStyle/>
          <a:p>
            <a:r>
              <a:rPr lang="ru-RU" b="1"/>
              <a:t>Демонстрация прототипа и </a:t>
            </a:r>
            <a:r>
              <a:rPr lang="en-US" b="1"/>
              <a:t>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02CBD5-EB62-4CD6-AB48-F3514305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789" y="1203158"/>
            <a:ext cx="8632338" cy="4878870"/>
          </a:xfrm>
        </p:spPr>
        <p:txBody>
          <a:bodyPr>
            <a:noAutofit/>
          </a:bodyPr>
          <a:lstStyle/>
          <a:p>
            <a:r>
              <a:rPr lang="ru-RU" sz="1400" b="1" dirty="0"/>
              <a:t>Основные пользовательские сценарии:</a:t>
            </a:r>
            <a:endParaRPr lang="ru-RU" sz="1400" dirty="0"/>
          </a:p>
          <a:p>
            <a:pPr lvl="1"/>
            <a:r>
              <a:rPr lang="ru-RU" sz="1400" b="1" dirty="0"/>
              <a:t>Для ученика:</a:t>
            </a:r>
            <a:r>
              <a:rPr lang="ru-RU" sz="1400" dirty="0"/>
              <a:t> Регистрация → Выбор модуля → Изучение (3 шага) → Результат → Прогресс в %.</a:t>
            </a:r>
          </a:p>
          <a:p>
            <a:pPr lvl="1"/>
            <a:r>
              <a:rPr lang="ru-RU" sz="1400" b="1" dirty="0"/>
              <a:t>Для администратора:</a:t>
            </a:r>
            <a:r>
              <a:rPr lang="ru-RU" sz="1400" dirty="0"/>
              <a:t> Вход под админ-учёткой → Управление пользователями/модулями → Добавление нового теста.</a:t>
            </a:r>
          </a:p>
          <a:p>
            <a:pPr lvl="1"/>
            <a:endParaRPr lang="ru-RU" sz="1400" dirty="0"/>
          </a:p>
          <a:p>
            <a:pPr algn="r"/>
            <a:r>
              <a:rPr lang="ru-RU" sz="1400" b="1" dirty="0"/>
              <a:t>Интерфейс и UX-решения:</a:t>
            </a:r>
            <a:endParaRPr lang="ru-RU" sz="1400" dirty="0"/>
          </a:p>
          <a:p>
            <a:pPr lvl="1" algn="r"/>
            <a:r>
              <a:rPr lang="ru-RU" sz="1400" b="1" dirty="0"/>
              <a:t>Чёткая навигация:</a:t>
            </a:r>
            <a:r>
              <a:rPr lang="ru-RU" sz="1400" dirty="0"/>
              <a:t> </a:t>
            </a:r>
            <a:r>
              <a:rPr lang="ru-RU" sz="1400" dirty="0" err="1"/>
              <a:t>BottomNavigation</a:t>
            </a:r>
            <a:r>
              <a:rPr lang="ru-RU" sz="1400" dirty="0"/>
              <a:t> или </a:t>
            </a:r>
            <a:r>
              <a:rPr lang="ru-RU" sz="1400" dirty="0" err="1"/>
              <a:t>Drawer</a:t>
            </a:r>
            <a:r>
              <a:rPr lang="ru-RU" sz="1400" dirty="0"/>
              <a:t> для основных разделов.</a:t>
            </a:r>
          </a:p>
          <a:p>
            <a:pPr lvl="1" algn="r"/>
            <a:r>
              <a:rPr lang="ru-RU" sz="1400" b="1" dirty="0"/>
              <a:t>Визуализация прогресса:</a:t>
            </a:r>
            <a:r>
              <a:rPr lang="ru-RU" sz="1400" dirty="0"/>
              <a:t> Индикатор процента на карточке каждого модуля.</a:t>
            </a:r>
          </a:p>
          <a:p>
            <a:pPr lvl="1" algn="r"/>
            <a:r>
              <a:rPr lang="ru-RU" sz="1400" b="1" dirty="0"/>
              <a:t>Простота и ясность:</a:t>
            </a:r>
            <a:r>
              <a:rPr lang="ru-RU" sz="1400" dirty="0"/>
              <a:t> Минималистичный дизайн, удобочитаемые шрифты, разделение теории/кода/теста.</a:t>
            </a:r>
          </a:p>
          <a:p>
            <a:pPr lvl="1" algn="r"/>
            <a:r>
              <a:rPr lang="ru-RU" sz="1400" b="1" dirty="0"/>
              <a:t>Обратная связь:</a:t>
            </a:r>
            <a:r>
              <a:rPr lang="ru-RU" sz="1400" dirty="0"/>
              <a:t> Мгновенная проверка ответов в тесте, наглядный экран результата.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81385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025F4-C5E7-1775-79AE-E1D29001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74" y="808056"/>
            <a:ext cx="6479402" cy="1244060"/>
          </a:xfrm>
        </p:spPr>
        <p:txBody>
          <a:bodyPr/>
          <a:lstStyle/>
          <a:p>
            <a:r>
              <a:rPr lang="ru-RU" b="1" dirty="0"/>
              <a:t>Выводы и планы развития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14D2EE-EE16-5175-6DFA-83903E8C7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747316"/>
            <a:ext cx="7796540" cy="3997828"/>
          </a:xfrm>
        </p:spPr>
        <p:txBody>
          <a:bodyPr/>
          <a:lstStyle/>
          <a:p>
            <a:r>
              <a:rPr lang="ru-RU" b="1" dirty="0"/>
              <a:t>Планы по развитию (дополнительные функции):</a:t>
            </a:r>
            <a:endParaRPr lang="ru-RU" dirty="0"/>
          </a:p>
          <a:p>
            <a:pPr lvl="1"/>
            <a:r>
              <a:rPr lang="ru-RU" b="1" dirty="0"/>
              <a:t>Тёмная тема</a:t>
            </a:r>
            <a:r>
              <a:rPr lang="ru-RU" dirty="0"/>
              <a:t> для снижения нагрузки на глаза.</a:t>
            </a:r>
          </a:p>
          <a:p>
            <a:pPr lvl="1"/>
            <a:r>
              <a:rPr lang="ru-RU" b="1" dirty="0"/>
              <a:t>Офлайн-режим</a:t>
            </a:r>
            <a:r>
              <a:rPr lang="ru-RU" dirty="0"/>
              <a:t> для изучения пройденной теории без интернета.</a:t>
            </a:r>
          </a:p>
          <a:p>
            <a:pPr lvl="1"/>
            <a:r>
              <a:rPr lang="ru-RU" b="1" dirty="0"/>
              <a:t>Расширенные типы вопросов:</a:t>
            </a:r>
            <a:r>
              <a:rPr lang="ru-RU" dirty="0"/>
              <a:t> Заполнение пропусков в коде, несколько правильных ответов.</a:t>
            </a:r>
          </a:p>
          <a:p>
            <a:pPr lvl="1"/>
            <a:r>
              <a:rPr lang="ru-RU" b="1" dirty="0"/>
              <a:t>Система достижений</a:t>
            </a:r>
            <a:r>
              <a:rPr lang="ru-RU" dirty="0"/>
              <a:t> и мотивационные бейджи.</a:t>
            </a:r>
          </a:p>
          <a:p>
            <a:pPr lvl="1"/>
            <a:r>
              <a:rPr lang="ru-RU" b="1" dirty="0"/>
              <a:t>Публикация в Google Play</a:t>
            </a:r>
            <a:r>
              <a:rPr lang="ru-RU" dirty="0"/>
              <a:t> для широкого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270197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EC7A5-5960-D38B-5483-8C663A71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05B77-8FA5-44DC-0278-75BBE1001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958" y="2212200"/>
            <a:ext cx="9415107" cy="2760516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Приложение представляет собой готовое к использованию решение для структурированного изучения Python, сочетающее удобство для ученика и мощные инструменты управления для администратора.</a:t>
            </a:r>
          </a:p>
        </p:txBody>
      </p:sp>
    </p:spTree>
    <p:extLst>
      <p:ext uri="{BB962C8B-B14F-4D97-AF65-F5344CB8AC3E}">
        <p14:creationId xmlns:p14="http://schemas.microsoft.com/office/powerpoint/2010/main" val="2485794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{57532564-F8EB-4F9C-85FF-309E162248F6}TF37254b02-f5b5-44b0-803d-e6af9466a02430b15390-63aae61ef10a</Template>
  <TotalTime>9</TotalTime>
  <Words>377</Words>
  <Application>Microsoft Office PowerPoint</Application>
  <PresentationFormat>Широкоэкранный</PresentationFormat>
  <Paragraphs>46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Мэдисон</vt:lpstr>
      <vt:lpstr>Тренажёр по изучению языка программирования Python</vt:lpstr>
      <vt:lpstr>Идея и цель проекта</vt:lpstr>
      <vt:lpstr>Структура и ключевой функционал</vt:lpstr>
      <vt:lpstr>Архитектура и технологии</vt:lpstr>
      <vt:lpstr>Демонстрация прототипа и UX</vt:lpstr>
      <vt:lpstr>Выводы и планы развития</vt:lpstr>
      <vt:lpstr>Заключение: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Эллина Астахова</dc:creator>
  <cp:lastModifiedBy>Эллина Астахова</cp:lastModifiedBy>
  <cp:revision>1</cp:revision>
  <dcterms:created xsi:type="dcterms:W3CDTF">2025-12-19T06:14:30Z</dcterms:created>
  <dcterms:modified xsi:type="dcterms:W3CDTF">2025-12-19T06:23:39Z</dcterms:modified>
</cp:coreProperties>
</file>